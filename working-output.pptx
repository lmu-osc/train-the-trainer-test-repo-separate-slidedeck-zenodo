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8370"/>
    <p:restoredTop autoAdjust="0" sz="94697"/>
  </p:normalViewPr>
  <p:slideViewPr>
    <p:cSldViewPr snapToGrid="0" snapToObjects="1">
      <p:cViewPr varScale="1">
        <p:scale>
          <a:sx d="100" n="104"/>
          <a:sy d="100" n="104"/>
        </p:scale>
        <p:origin x="224" y="464"/>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9/23/26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7" name="Date Placeholder 6">
            <a:extLst>
              <a:ext uri="{FF2B5EF4-FFF2-40B4-BE49-F238E27FC236}">
                <a16:creationId xmlns:a16="http://schemas.microsoft.com/office/drawing/2014/main" id="{061B09C1-B224-518F-0685-9136C57B0AAB}"/>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DF1B80E6-457B-EDED-0211-B71E2739445B}"/>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9A738F11-4DF9-41BE-57C0-5A8B98080E05}"/>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0616AEA6-DD6E-40D4-2DDA-E355C068ABA2}"/>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FC227C7C-21CB-0721-ADC3-A51EEAD51D56}"/>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53BFD42A-B99F-B332-F96E-677E56BC9A77}"/>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E7917CDB-D8CE-FB9A-9950-24117F9B85CA}"/>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761EF569-90C9-0E39-2DB2-EBF7BACC7581}"/>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C6779744-BA8A-1AED-290E-865E62914D1E}"/>
              </a:ext>
            </a:extLst>
          </p:cNvPr>
          <p:cNvSpPr>
            <a:spLocks noGrp="1"/>
          </p:cNvSpPr>
          <p:nvPr>
            <p:ph type="dt" sz="half" idx="10"/>
          </p:nvPr>
        </p:nvSpPr>
        <p:spPr/>
        <p:txBody>
          <a:bodyPr/>
          <a:lstStyle/>
          <a:p>
            <a:pPr algn="ctr"/>
            <a:r>
              <a:rPr lang="en-US"/>
              <a:t>DATE</a:t>
            </a:r>
            <a:endParaRPr lang="en-US" dirty="0"/>
          </a:p>
        </p:txBody>
      </p:sp>
      <p:sp>
        <p:nvSpPr>
          <p:cNvPr id="11" name="Footer Placeholder 10">
            <a:extLst>
              <a:ext uri="{FF2B5EF4-FFF2-40B4-BE49-F238E27FC236}">
                <a16:creationId xmlns:a16="http://schemas.microsoft.com/office/drawing/2014/main" id="{1848E229-50B2-977A-CF44-3D42D1183372}"/>
              </a:ext>
            </a:extLst>
          </p:cNvPr>
          <p:cNvSpPr>
            <a:spLocks noGrp="1"/>
          </p:cNvSpPr>
          <p:nvPr>
            <p:ph type="ftr" sz="quarter" idx="11"/>
          </p:nvPr>
        </p:nvSpPr>
        <p:spPr/>
        <p:txBody>
          <a:bodyPr/>
          <a:lstStyle/>
          <a:p>
            <a:r>
              <a:rPr lang="en-US"/>
              <a:t>© LMU Open Science Center</a:t>
            </a:r>
            <a:endParaRPr lang="en-US" dirty="0"/>
          </a:p>
        </p:txBody>
      </p:sp>
      <p:sp>
        <p:nvSpPr>
          <p:cNvPr id="12" name="Slide Number Placeholder 11">
            <a:extLst>
              <a:ext uri="{FF2B5EF4-FFF2-40B4-BE49-F238E27FC236}">
                <a16:creationId xmlns:a16="http://schemas.microsoft.com/office/drawing/2014/main" id="{20842B77-B6EE-65F3-DC92-E2534256F029}"/>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6" name="Date Placeholder 5">
            <a:extLst>
              <a:ext uri="{FF2B5EF4-FFF2-40B4-BE49-F238E27FC236}">
                <a16:creationId xmlns:a16="http://schemas.microsoft.com/office/drawing/2014/main" id="{EBAFF52C-BDE9-B757-3F2E-97BB80768043}"/>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E5405DF6-2DBE-DEB9-2870-BF132FA011E6}"/>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2168DBF4-2CFD-1E51-8AC7-982150A40374}"/>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809DEAED-D9B3-6E1B-0491-58CD791C90BA}"/>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77F0CD55-CE9E-DB6C-0EC3-1B10A9E5C45B}"/>
              </a:ext>
            </a:extLst>
          </p:cNvPr>
          <p:cNvSpPr>
            <a:spLocks noGrp="1"/>
          </p:cNvSpPr>
          <p:nvPr>
            <p:ph type="ftr" sz="quarter" idx="11"/>
          </p:nvPr>
        </p:nvSpPr>
        <p:spPr/>
        <p:txBody>
          <a:bodyPr/>
          <a:lstStyle/>
          <a:p>
            <a:r>
              <a:rPr lang="en-US"/>
              <a:t>© LMU Open Science Center</a:t>
            </a:r>
            <a:endParaRPr lang="en-US" dirty="0"/>
          </a:p>
        </p:txBody>
      </p:sp>
      <p:sp>
        <p:nvSpPr>
          <p:cNvPr id="7" name="Slide Number Placeholder 6">
            <a:extLst>
              <a:ext uri="{FF2B5EF4-FFF2-40B4-BE49-F238E27FC236}">
                <a16:creationId xmlns:a16="http://schemas.microsoft.com/office/drawing/2014/main" id="{E9FEDD56-48D3-8D4B-FA52-B62AB7006E2A}"/>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2"/>
            <a:ext cx="6815667" cy="5853113"/>
          </a:xfrm>
        </p:spPr>
        <p:txBody>
          <a:bodyPr anchor="ct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8EEF7D04-FF72-0698-CE48-A9A4F70D774F}"/>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29EE7C5F-ABAD-CC52-7A14-40327B8307C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DB013600-FEC1-B326-2FA5-44299E5168AB}"/>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15CA6B3C-BACA-8A65-B5EF-54019213DBD8}"/>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33ABB9-0FD6-00F4-2186-D3425C9073F8}"/>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2CF2A15A-E38D-BBA2-F6E5-F54E8EE4FC5E}"/>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752F930-079C-2B09-0620-3D5F46770B5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35559A-56D2-4FD7-4D20-D71F4C8215E0}"/>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4E340C61-838A-D2E9-36F0-C1EB6496D16C}"/>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0F46CA0-DC5C-0E94-9C04-A3785DB5CE53}"/>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7712559"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pPr algn="ctr"/>
            <a:r>
              <a:rPr dirty="0" lang="en-US"/>
              <a:t>Slide </a:t>
            </a:r>
            <a:fld id="{C5EF2332-01BF-834F-8236-50238282D533}" type="slidenum">
              <a:rPr lang="en-US" smtClean="0"/>
              <a:pPr algn="ct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4762500" y="266700"/>
          <a:ext cx="6807200" cy="5842000"/>
        </p:xfrm>
        <a:graphic>
          <a:graphicData uri="http://schemas.openxmlformats.org/drawingml/2006/table">
            <a:tbl>
              <a:tblPr firstRow="1" bandRow="1">
                <a:tableStyleId>{5C22544A-7EE6-4342-B048-85BDC9FD1C3A}</a:tableStyleId>
              </a:tblPr>
              <a:tblGrid>
                <a:gridCol w="2273300"/>
                <a:gridCol w="2273300"/>
                <a:gridCol w="22733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4762500" y="1143000"/>
            <a:ext cx="6807200" cy="4076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4762500" y="1739900"/>
            <a:ext cx="6807200" cy="2387600"/>
          </a:xfrm>
          <a:prstGeom prst="rect">
            <a:avLst/>
          </a:prstGeom>
          <a:noFill/>
          <a:ln w="9525">
            <a:noFill/>
            <a:headEnd/>
            <a:tailEnd/>
          </a:ln>
        </p:spPr>
      </p:pic>
      <p:sp>
        <p:nvSpPr>
          <p:cNvPr id="1" name="TextBox 3"/>
          <p:cNvSpPr txBox="1"/>
          <p:nvPr>
            <p:ph idx="1"/>
          </p:nvPr>
        </p:nvSpPr>
        <p:spPr>
          <a:xfrm>
            <a:off x="4762500" y="5600700"/>
            <a:ext cx="68072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762500" y="2806700"/>
            <a:ext cx="6807200" cy="774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4762500" y="2400300"/>
            <a:ext cx="6807200" cy="15748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63084" y="3166963"/>
            <a:ext cx="10363200" cy="1362075"/>
          </a:xfrm>
        </p:spPr>
        <p:txBody>
          <a:bodyPr/>
          <a:lstStyle/>
          <a:p>
            <a:pPr lvl="0" indent="0" marL="0">
              <a:buNone/>
            </a:pPr>
            <a:r>
              <a:rPr/>
              <a:t>Brief overview of Zotero</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FC227C7C-21CB-0721-ADC3-A51EEAD51D56}"/>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311400" y="1600200"/>
            <a:ext cx="7569200" cy="4521200"/>
          </a:xfrm>
          <a:prstGeom prst="rect">
            <a:avLst/>
          </a:prstGeom>
          <a:noFill/>
          <a:ln w="9525">
            <a:noFill/>
            <a:headEnd/>
            <a:tailEnd/>
          </a:ln>
        </p:spPr>
      </p:pic>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457189" marL="457189">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189" marL="457189">
              <a:buAutoNum startAt="2" type="arabicPeriod"/>
            </a:pPr>
            <a:r>
              <a:rPr b="1"/>
              <a:t>Share your thoughts with the group.</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2026-09-24T09:18:15Z</dcterms:created>
  <dcterms:modified xsi:type="dcterms:W3CDTF">2026-09-24T09:18:15Z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